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88F8DB41-9CC0-DE3C-971C-6FB89A47F4D4}">
          <p14:sldIdLst>
            <p14:sldId id="256"/>
            <p14:sldId id="257"/>
            <p14:sldId id="258"/>
          </p14:sldIdLst>
        </p14:section>
        <p14:section name="Findings" id="{012381BA-AD76-B5CF-2353-DA2DB7C05EB9}">
          <p14:sldIdLst>
            <p14:sldId id="259"/>
            <p14:sldId id="260"/>
            <p14:sldId id="261"/>
            <p14:sldId id="262"/>
          </p14:sldIdLst>
        </p14:section>
        <p14:section name="Deployment" id="{4F5CF5EF-3924-9B5A-3FED-8504B840D380}">
          <p14:sldIdLst>
            <p14:sldId id="263"/>
            <p14:sldId id="264"/>
            <p14:sldId id="265"/>
          </p14:sldIdLst>
        </p14:section>
        <p14:section name="Action" id="{600B1432-2980-DAB7-612C-1085089680D3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54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B2D42"/>
                </a:solidFill>
                <a:latin typeface="+mn-lt"/>
              </a:defRPr>
            </a:pPr>
            <a:r>
              <a:rPr lang="en-US" sz="1300" b="0" i="0" u="none" strike="noStrike">
                <a:solidFill>
                  <a:srgbClr val="2B2D42"/>
                </a:solidFill>
                <a:latin typeface="+mn-lt"/>
              </a:rPr>
              <a:t>Attrition % by job role (top 6)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%</c:v>
                </c:pt>
              </c:strCache>
            </c:strRef>
          </c:tx>
          <c:spPr>
            <a:solidFill>
              <a:srgbClr val="E07A1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Healthcare Representative</c:v>
                </c:pt>
                <c:pt idx="1">
                  <c:v>Research Scientist</c:v>
                </c:pt>
                <c:pt idx="2">
                  <c:v>Sales Executive</c:v>
                </c:pt>
                <c:pt idx="3">
                  <c:v>Human Resources</c:v>
                </c:pt>
                <c:pt idx="4">
                  <c:v>Laboratory Technician</c:v>
                </c:pt>
                <c:pt idx="5">
                  <c:v>Sales Representative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6.9</c:v>
                </c:pt>
                <c:pt idx="1">
                  <c:v>16.100000000000001</c:v>
                </c:pt>
                <c:pt idx="2">
                  <c:v>17.5</c:v>
                </c:pt>
                <c:pt idx="3">
                  <c:v>23.1</c:v>
                </c:pt>
                <c:pt idx="4">
                  <c:v>23.9</c:v>
                </c:pt>
                <c:pt idx="5">
                  <c:v>39.799999999999997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DCE-4EEC-A482-B6E8B393FC0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D4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B2D42"/>
                </a:solidFill>
                <a:latin typeface="+mn-lt"/>
              </a:defRPr>
            </a:pPr>
            <a:r>
              <a:rPr lang="en-IN" sz="1300" b="0" i="0" u="none" strike="noStrike">
                <a:solidFill>
                  <a:srgbClr val="2B2D42"/>
                </a:solidFill>
                <a:latin typeface="+mn-lt"/>
              </a:rPr>
              <a:t>Cross-validated ROC-AUC (training data)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AUC</c:v>
                </c:pt>
              </c:strCache>
            </c:strRef>
          </c:tx>
          <c:spPr>
            <a:solidFill>
              <a:srgbClr val="2B2D4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A58-49DA-8D5A-7CD7B7D5C9C3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A58-49DA-8D5A-7CD7B7D5C9C3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4A58-49DA-8D5A-7CD7B7D5C9C3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4A58-49DA-8D5A-7CD7B7D5C9C3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4A58-49DA-8D5A-7CD7B7D5C9C3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4A58-49DA-8D5A-7CD7B7D5C9C3}"/>
              </c:ext>
            </c:extLst>
          </c:dPt>
          <c:dPt>
            <c:idx val="6"/>
            <c:invertIfNegative val="0"/>
            <c:bubble3D val="0"/>
            <c:spPr>
              <a:solidFill>
                <a:srgbClr val="E07A1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4A58-49DA-8D5A-7CD7B7D5C9C3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QDA</c:v>
                </c:pt>
                <c:pt idx="1">
                  <c:v>Naive Bayes</c:v>
                </c:pt>
                <c:pt idx="2">
                  <c:v>LDA</c:v>
                </c:pt>
                <c:pt idx="3">
                  <c:v>Neural Network</c:v>
                </c:pt>
                <c:pt idx="4">
                  <c:v>XGBoost</c:v>
                </c:pt>
                <c:pt idx="5">
                  <c:v>Random Forest</c:v>
                </c:pt>
                <c:pt idx="6">
                  <c:v>Logistic Regression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0.69799999999999995</c:v>
                </c:pt>
                <c:pt idx="1">
                  <c:v>0.71499999999999997</c:v>
                </c:pt>
                <c:pt idx="2">
                  <c:v>0.72799999999999998</c:v>
                </c:pt>
                <c:pt idx="3">
                  <c:v>0.77900000000000003</c:v>
                </c:pt>
                <c:pt idx="4">
                  <c:v>0.78</c:v>
                </c:pt>
                <c:pt idx="5">
                  <c:v>0.78300000000000003</c:v>
                </c:pt>
                <c:pt idx="6">
                  <c:v>0.80800000000000005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4A58-49DA-8D5A-7CD7B7D5C9C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D4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5"/>
          <c:min val="0.6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B2D42"/>
                </a:solidFill>
                <a:latin typeface="+mn-lt"/>
              </a:defRPr>
            </a:pPr>
            <a:r>
              <a:rPr lang="en-US" sz="1300" b="0" i="0" u="none" strike="noStrike">
                <a:solidFill>
                  <a:srgbClr val="2B2D42"/>
                </a:solidFill>
                <a:latin typeface="+mn-lt"/>
              </a:rPr>
              <a:t>Actual attrition % by risk band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attrition %</c:v>
                </c:pt>
              </c:strCache>
            </c:strRef>
          </c:tx>
          <c:spPr>
            <a:solidFill>
              <a:srgbClr val="8D99A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03C-4902-8798-4773C61F1901}"/>
              </c:ext>
            </c:extLst>
          </c:dPt>
          <c:dPt>
            <c:idx val="1"/>
            <c:invertIfNegative val="0"/>
            <c:bubble3D val="0"/>
            <c:spPr>
              <a:solidFill>
                <a:srgbClr val="F4A2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03C-4902-8798-4773C61F1901}"/>
              </c:ext>
            </c:extLst>
          </c:dPt>
          <c:dPt>
            <c:idx val="2"/>
            <c:invertIfNegative val="0"/>
            <c:bubble3D val="0"/>
            <c:spPr>
              <a:solidFill>
                <a:srgbClr val="E07A1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03C-4902-8798-4773C61F190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00000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Low</c:v>
                </c:pt>
                <c:pt idx="1">
                  <c:v>Medium</c:v>
                </c:pt>
                <c:pt idx="2">
                  <c:v>High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4.9000000000000004</c:v>
                </c:pt>
                <c:pt idx="1">
                  <c:v>14.3</c:v>
                </c:pt>
                <c:pt idx="2">
                  <c:v>49.8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03C-4902-8798-4773C61F190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D4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4393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and myself. The project predicts employee attrition and delivers a dashboard and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Attrition costs money and HR hears about it late. The dataset has 1,470 employees and about one in six left.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five engineered features and the stratified split.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Overtime and job role stand out. Walk through the chart and the callouts.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Logistic regression had the best cross-validated AUC. The simple model matched the complex ones, so it is the better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 of 16 percent updated by likelihood. LDA assumptions fail because features are skewed.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Threshold chosen to maximise F1. Show the three risk bands and how much they separate.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instructed, Watson was replaced by free tools: GitHub, Streamlit, Render and GitHub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API response with 0.7863 probability and the successful retraining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the live dashboard if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each recommendation to a finding. The saving is an illustration based on two stated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honest: nearly half of High-risk flags are false alarms, so the list is for conversations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E07A1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Shrinivas Wable  |  PRN 2124UDSM2065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"/>
          <p:cNvSpPr/>
          <p:nvPr/>
        </p:nvSpPr>
        <p:spPr>
          <a:xfrm>
            <a:off x="0" y="0"/>
            <a:ext cx="6035040" cy="5143500"/>
          </a:xfrm>
          <a:prstGeom prst="rect">
            <a:avLst/>
          </a:prstGeom>
          <a:solidFill>
            <a:srgbClr val="2B2D42"/>
          </a:solidFill>
          <a:ln w="12700">
            <a:solidFill>
              <a:srgbClr val="2B2D42"/>
            </a:solidFill>
            <a:prstDash val="solid"/>
          </a:ln>
        </p:spPr>
      </p:sp>
      <p:sp>
        <p:nvSpPr>
          <p:cNvPr id="3" name="box"/>
          <p:cNvSpPr/>
          <p:nvPr/>
        </p:nvSpPr>
        <p:spPr>
          <a:xfrm>
            <a:off x="6035040" y="0"/>
            <a:ext cx="228600" cy="514350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731520"/>
            <a:ext cx="5120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EMPLOYEE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ATTRITION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ANALYTICS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3832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who may leave, and what HR can do about it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583680" y="35661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Shrinivas Wable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 No: 2124UDSM2065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96112"/>
            <a:ext cx="109728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box"/>
          <p:cNvSpPr/>
          <p:nvPr/>
        </p:nvSpPr>
        <p:spPr>
          <a:xfrm>
            <a:off x="502920" y="1188720"/>
            <a:ext cx="1645920" cy="1371600"/>
          </a:xfrm>
          <a:prstGeom prst="rect">
            <a:avLst/>
          </a:prstGeom>
          <a:solidFill>
            <a:srgbClr val="F6F2EC"/>
          </a:solidFill>
          <a:ln w="12700">
            <a:solidFill>
              <a:srgbClr val="F6F2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280160"/>
            <a:ext cx="146304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1470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0574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300" dirty="0"/>
          </a:p>
        </p:txBody>
      </p:sp>
      <p:sp>
        <p:nvSpPr>
          <p:cNvPr id="8" name="box"/>
          <p:cNvSpPr/>
          <p:nvPr/>
        </p:nvSpPr>
        <p:spPr>
          <a:xfrm>
            <a:off x="2331720" y="1188720"/>
            <a:ext cx="1645920" cy="1371600"/>
          </a:xfrm>
          <a:prstGeom prst="rect">
            <a:avLst/>
          </a:prstGeom>
          <a:solidFill>
            <a:srgbClr val="F6F2EC"/>
          </a:solidFill>
          <a:ln w="12700">
            <a:solidFill>
              <a:srgbClr val="F6F2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423160" y="1280160"/>
            <a:ext cx="146304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237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2423160" y="20574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the company</a:t>
            </a:r>
            <a:endParaRPr lang="en-US" sz="1300" dirty="0"/>
          </a:p>
        </p:txBody>
      </p:sp>
      <p:sp>
        <p:nvSpPr>
          <p:cNvPr id="11" name="box"/>
          <p:cNvSpPr/>
          <p:nvPr/>
        </p:nvSpPr>
        <p:spPr>
          <a:xfrm>
            <a:off x="4160520" y="1188720"/>
            <a:ext cx="1645920" cy="137160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251960" y="1280160"/>
            <a:ext cx="146304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16.1%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4251960" y="20574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</a:t>
            </a:r>
            <a:endParaRPr lang="en-US" sz="1300" dirty="0"/>
          </a:p>
        </p:txBody>
      </p:sp>
      <p:sp>
        <p:nvSpPr>
          <p:cNvPr id="14" name="box"/>
          <p:cNvSpPr/>
          <p:nvPr/>
        </p:nvSpPr>
        <p:spPr>
          <a:xfrm>
            <a:off x="6126480" y="1188720"/>
            <a:ext cx="2651760" cy="1371600"/>
          </a:xfrm>
          <a:prstGeom prst="rect">
            <a:avLst/>
          </a:prstGeom>
          <a:solidFill>
            <a:srgbClr val="2B2D42"/>
          </a:solidFill>
          <a:ln w="12700">
            <a:solidFill>
              <a:srgbClr val="2B2D4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263640" y="13258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finds out when the resignation letter arrives. That is too late.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02920" y="29260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give every employee a risk score and a Low, Medium or High band.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always says "stays" would be 84% accurate and useless, so I judge models on recall, F1 and ROC-AUC.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it as a dashboard, a REST API and a model that retrains itself.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and preparation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96112"/>
            <a:ext cx="109728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02920" y="114300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1470 rows, 35 columns, no missing values.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4 columns that carry no information (IDs and constants).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standardised, text one-hot encoded.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train / 25% test, stratified, seed 7.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663440" y="1097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07A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Five new features</a:t>
            </a:r>
            <a:endParaRPr lang="en-US" sz="1600" dirty="0"/>
          </a:p>
        </p:txBody>
      </p:sp>
      <p:sp>
        <p:nvSpPr>
          <p:cNvPr id="7" name="box"/>
          <p:cNvSpPr/>
          <p:nvPr/>
        </p:nvSpPr>
        <p:spPr>
          <a:xfrm>
            <a:off x="4663440" y="1508760"/>
            <a:ext cx="4114800" cy="475488"/>
          </a:xfrm>
          <a:prstGeom prst="rect">
            <a:avLst/>
          </a:prstGeom>
          <a:solidFill>
            <a:srgbClr val="F6F2EC"/>
          </a:solidFill>
          <a:ln w="12700">
            <a:solidFill>
              <a:srgbClr val="F6F2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00600" y="16002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IncomeToLevel  </a:t>
            </a:r>
            <a:r>
              <a:rPr lang="en-US" sz="1300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relative to grade</a:t>
            </a:r>
            <a:endParaRPr lang="en-US" sz="1300" dirty="0"/>
          </a:p>
        </p:txBody>
      </p:sp>
      <p:sp>
        <p:nvSpPr>
          <p:cNvPr id="9" name="box"/>
          <p:cNvSpPr/>
          <p:nvPr/>
        </p:nvSpPr>
        <p:spPr>
          <a:xfrm>
            <a:off x="4663440" y="2075688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6F2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00600" y="21671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TenureRatio  </a:t>
            </a:r>
            <a:r>
              <a:rPr lang="en-US" sz="1300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here vs career length</a:t>
            </a:r>
            <a:endParaRPr lang="en-US" sz="1300" dirty="0"/>
          </a:p>
        </p:txBody>
      </p:sp>
      <p:sp>
        <p:nvSpPr>
          <p:cNvPr id="11" name="box"/>
          <p:cNvSpPr/>
          <p:nvPr/>
        </p:nvSpPr>
        <p:spPr>
          <a:xfrm>
            <a:off x="4663440" y="2642616"/>
            <a:ext cx="4114800" cy="475488"/>
          </a:xfrm>
          <a:prstGeom prst="rect">
            <a:avLst/>
          </a:prstGeom>
          <a:solidFill>
            <a:srgbClr val="F6F2EC"/>
          </a:solidFill>
          <a:ln w="12700">
            <a:solidFill>
              <a:srgbClr val="F6F2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00600" y="273405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PromotionGap  </a:t>
            </a:r>
            <a:r>
              <a:rPr lang="en-US" sz="1300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waiting for promotion</a:t>
            </a:r>
            <a:endParaRPr lang="en-US" sz="1300" dirty="0"/>
          </a:p>
        </p:txBody>
      </p:sp>
      <p:sp>
        <p:nvSpPr>
          <p:cNvPr id="13" name="box"/>
          <p:cNvSpPr/>
          <p:nvPr/>
        </p:nvSpPr>
        <p:spPr>
          <a:xfrm>
            <a:off x="4663440" y="3209544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6F2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00600" y="330098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StabilityScore  </a:t>
            </a:r>
            <a:r>
              <a:rPr lang="en-US" sz="1300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per employer</a:t>
            </a:r>
            <a:endParaRPr lang="en-US" sz="1300" dirty="0"/>
          </a:p>
        </p:txBody>
      </p:sp>
      <p:sp>
        <p:nvSpPr>
          <p:cNvPr id="15" name="box"/>
          <p:cNvSpPr/>
          <p:nvPr/>
        </p:nvSpPr>
        <p:spPr>
          <a:xfrm>
            <a:off x="4663440" y="3776472"/>
            <a:ext cx="4114800" cy="475488"/>
          </a:xfrm>
          <a:prstGeom prst="rect">
            <a:avLst/>
          </a:prstGeom>
          <a:solidFill>
            <a:srgbClr val="F6F2EC"/>
          </a:solidFill>
          <a:ln w="12700">
            <a:solidFill>
              <a:srgbClr val="F6F2E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00600" y="38679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SatisfactionIndex  </a:t>
            </a:r>
            <a:r>
              <a:rPr lang="en-US" sz="1300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of 4 ratings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38404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feature code lives in one file, hr_features.py, shared by the notebook, dashboard and API.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data says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96112"/>
            <a:ext cx="109728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411480" y="1051560"/>
          <a:ext cx="493776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box"/>
          <p:cNvSpPr/>
          <p:nvPr/>
        </p:nvSpPr>
        <p:spPr>
          <a:xfrm>
            <a:off x="5577840" y="1097280"/>
            <a:ext cx="3200400" cy="1051560"/>
          </a:xfrm>
          <a:prstGeom prst="rect">
            <a:avLst/>
          </a:prstGeom>
          <a:solidFill>
            <a:srgbClr val="2B2D42"/>
          </a:solidFill>
          <a:ln w="12700">
            <a:solidFill>
              <a:srgbClr val="2B2D4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669280" y="1188720"/>
            <a:ext cx="123444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30.5%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6903720" y="118872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among overtime workers vs 10.4% without overtime</a:t>
            </a:r>
            <a:endParaRPr lang="en-US" sz="1100" dirty="0"/>
          </a:p>
        </p:txBody>
      </p:sp>
      <p:sp>
        <p:nvSpPr>
          <p:cNvPr id="9" name="box"/>
          <p:cNvSpPr/>
          <p:nvPr/>
        </p:nvSpPr>
        <p:spPr>
          <a:xfrm>
            <a:off x="5577840" y="2286000"/>
            <a:ext cx="3200400" cy="1051560"/>
          </a:xfrm>
          <a:prstGeom prst="rect">
            <a:avLst/>
          </a:prstGeom>
          <a:solidFill>
            <a:srgbClr val="F6F2EC"/>
          </a:solidFill>
          <a:ln w="12700">
            <a:solidFill>
              <a:srgbClr val="F6F2EC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669280" y="2377440"/>
            <a:ext cx="123444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7A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29.8%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6903720" y="237744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within their first 2 years (vs 8.1% after 11 years)</a:t>
            </a:r>
            <a:endParaRPr lang="en-US" sz="1100" dirty="0"/>
          </a:p>
        </p:txBody>
      </p:sp>
      <p:sp>
        <p:nvSpPr>
          <p:cNvPr id="12" name="box"/>
          <p:cNvSpPr/>
          <p:nvPr/>
        </p:nvSpPr>
        <p:spPr>
          <a:xfrm>
            <a:off x="5577840" y="3474720"/>
            <a:ext cx="3200400" cy="1051560"/>
          </a:xfrm>
          <a:prstGeom prst="rect">
            <a:avLst/>
          </a:prstGeom>
          <a:solidFill>
            <a:srgbClr val="F6F2EC"/>
          </a:solidFill>
          <a:ln w="12700">
            <a:solidFill>
              <a:srgbClr val="F6F2E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669280" y="3566160"/>
            <a:ext cx="123444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7A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29.3%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6903720" y="356616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lowest income quarter (vs 10.3% in the top)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Seven models, one winner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96112"/>
            <a:ext cx="109728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411480" y="1005840"/>
          <a:ext cx="512064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box"/>
          <p:cNvSpPr/>
          <p:nvPr/>
        </p:nvSpPr>
        <p:spPr>
          <a:xfrm>
            <a:off x="5715000" y="1097280"/>
            <a:ext cx="3063240" cy="3474720"/>
          </a:xfrm>
          <a:prstGeom prst="rect">
            <a:avLst/>
          </a:prstGeom>
          <a:solidFill>
            <a:srgbClr val="F6F2EC"/>
          </a:solidFill>
          <a:ln w="12700">
            <a:solidFill>
              <a:srgbClr val="F6F2EC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897880" y="1234440"/>
            <a:ext cx="2743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07A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Reading the results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four are close: 0.808, 0.783, 0.78, 0.779.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neural network has the best accuracy (0.87) but recall of only 0.458.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wins: fast, stable and easy to explain.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Bayes and discriminant analysis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96112"/>
            <a:ext cx="109728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box"/>
          <p:cNvSpPr/>
          <p:nvPr/>
        </p:nvSpPr>
        <p:spPr>
          <a:xfrm>
            <a:off x="502920" y="1097280"/>
            <a:ext cx="3931920" cy="3520440"/>
          </a:xfrm>
          <a:prstGeom prst="rect">
            <a:avLst/>
          </a:prstGeom>
          <a:solidFill>
            <a:srgbClr val="F6F2EC"/>
          </a:solidFill>
          <a:ln w="12700">
            <a:solidFill>
              <a:srgbClr val="F6F2EC"/>
            </a:solidFill>
            <a:prstDash val="solid"/>
          </a:ln>
        </p:spPr>
      </p:sp>
      <p:sp>
        <p:nvSpPr>
          <p:cNvPr id="6" name="box"/>
          <p:cNvSpPr/>
          <p:nvPr/>
        </p:nvSpPr>
        <p:spPr>
          <a:xfrm>
            <a:off x="502920" y="1097280"/>
            <a:ext cx="3931920" cy="73152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Naive Bayes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1691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P(left | x) ∝ P(x | left) × P(left)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10312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Prior: 16.2% of employees leave.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Leavers: lower job level, income, experience and satisfaction; longer commute.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0.576, precision 0.386, AUC 0.75 (lowest).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level, income and experience move together, so independence fails.</a:t>
            </a:r>
            <a:endParaRPr lang="en-US" sz="1500" dirty="0"/>
          </a:p>
        </p:txBody>
      </p:sp>
      <p:sp>
        <p:nvSpPr>
          <p:cNvPr id="10" name="box"/>
          <p:cNvSpPr/>
          <p:nvPr/>
        </p:nvSpPr>
        <p:spPr>
          <a:xfrm>
            <a:off x="4709160" y="1097280"/>
            <a:ext cx="3931920" cy="3520440"/>
          </a:xfrm>
          <a:prstGeom prst="rect">
            <a:avLst/>
          </a:prstGeom>
          <a:solidFill>
            <a:srgbClr val="F6F2EC"/>
          </a:solidFill>
          <a:ln w="12700">
            <a:solidFill>
              <a:srgbClr val="F6F2EC"/>
            </a:solidFill>
            <a:prstDash val="solid"/>
          </a:ln>
        </p:spPr>
      </p:sp>
      <p:sp>
        <p:nvSpPr>
          <p:cNvPr id="11" name="box"/>
          <p:cNvSpPr/>
          <p:nvPr/>
        </p:nvSpPr>
        <p:spPr>
          <a:xfrm>
            <a:off x="4709160" y="1097280"/>
            <a:ext cx="3931920" cy="73152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LDA and QDA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892040" y="1691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normal classes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892040" y="210312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 above 1.5 for StabilityScore and YearsSincePromotion.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covariances fairly similar (0.18).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LDA: AUC 0.785, recall 0.186.  QDA: AUC 0.791, recall 0.305.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for comparison only.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model and risk bands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96112"/>
            <a:ext cx="109728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box"/>
          <p:cNvSpPr/>
          <p:nvPr/>
        </p:nvSpPr>
        <p:spPr>
          <a:xfrm>
            <a:off x="502920" y="1097280"/>
            <a:ext cx="960120" cy="1051560"/>
          </a:xfrm>
          <a:prstGeom prst="rect">
            <a:avLst/>
          </a:prstGeom>
          <a:solidFill>
            <a:srgbClr val="2B2D42"/>
          </a:solidFill>
          <a:ln w="12700">
            <a:solidFill>
              <a:srgbClr val="2B2D4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30352" y="1170432"/>
            <a:ext cx="905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Logistic Regression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530352" y="1737360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8" name="box"/>
          <p:cNvSpPr/>
          <p:nvPr/>
        </p:nvSpPr>
        <p:spPr>
          <a:xfrm>
            <a:off x="1536192" y="1097280"/>
            <a:ext cx="960120" cy="1051560"/>
          </a:xfrm>
          <a:prstGeom prst="rect">
            <a:avLst/>
          </a:prstGeom>
          <a:solidFill>
            <a:srgbClr val="F6F2EC"/>
          </a:solidFill>
          <a:ln w="12700">
            <a:solidFill>
              <a:srgbClr val="F6F2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563624" y="1170432"/>
            <a:ext cx="905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07A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0.67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563624" y="1737360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000" dirty="0"/>
          </a:p>
        </p:txBody>
      </p:sp>
      <p:sp>
        <p:nvSpPr>
          <p:cNvPr id="11" name="box"/>
          <p:cNvSpPr/>
          <p:nvPr/>
        </p:nvSpPr>
        <p:spPr>
          <a:xfrm>
            <a:off x="2569464" y="1097280"/>
            <a:ext cx="960120" cy="1051560"/>
          </a:xfrm>
          <a:prstGeom prst="rect">
            <a:avLst/>
          </a:prstGeom>
          <a:solidFill>
            <a:srgbClr val="F6F2EC"/>
          </a:solidFill>
          <a:ln w="12700">
            <a:solidFill>
              <a:srgbClr val="F6F2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596896" y="1170432"/>
            <a:ext cx="905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07A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0.661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2596896" y="1737360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14" name="box"/>
          <p:cNvSpPr/>
          <p:nvPr/>
        </p:nvSpPr>
        <p:spPr>
          <a:xfrm>
            <a:off x="3602736" y="1097280"/>
            <a:ext cx="960120" cy="1051560"/>
          </a:xfrm>
          <a:prstGeom prst="rect">
            <a:avLst/>
          </a:prstGeom>
          <a:solidFill>
            <a:srgbClr val="F6F2EC"/>
          </a:solidFill>
          <a:ln w="12700">
            <a:solidFill>
              <a:srgbClr val="F6F2E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630168" y="1170432"/>
            <a:ext cx="905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07A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0.557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3630168" y="1737360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17" name="box"/>
          <p:cNvSpPr/>
          <p:nvPr/>
        </p:nvSpPr>
        <p:spPr>
          <a:xfrm>
            <a:off x="4636008" y="1097280"/>
            <a:ext cx="960120" cy="1051560"/>
          </a:xfrm>
          <a:prstGeom prst="rect">
            <a:avLst/>
          </a:prstGeom>
          <a:solidFill>
            <a:srgbClr val="F6F2EC"/>
          </a:solidFill>
          <a:ln w="12700">
            <a:solidFill>
              <a:srgbClr val="F6F2E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663440" y="1170432"/>
            <a:ext cx="905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07A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0.855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4663440" y="1737360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502920" y="2377440"/>
            <a:ext cx="5212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0.67 lifts precision from 0.387 to 0.557 and F1 from 0.517 to 0.605.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drops from 0.78 to 0.661: about two of three leavers are still found.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are out-of-fold: no one is scored by a model that saw them.</a:t>
            </a:r>
            <a:endParaRPr lang="en-US" sz="150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5852160" y="1005840"/>
          <a:ext cx="301752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 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96112"/>
            <a:ext cx="109728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box"/>
          <p:cNvSpPr/>
          <p:nvPr/>
        </p:nvSpPr>
        <p:spPr>
          <a:xfrm>
            <a:off x="502920" y="1188720"/>
            <a:ext cx="1920240" cy="2194560"/>
          </a:xfrm>
          <a:prstGeom prst="rect">
            <a:avLst/>
          </a:prstGeom>
          <a:solidFill>
            <a:srgbClr val="2B2D42"/>
          </a:solidFill>
          <a:ln w="12700">
            <a:solidFill>
              <a:srgbClr val="2B2D4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325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288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model, history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5603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github.com/shrinivas090605/employee-attrition-platform</a:t>
            </a:r>
            <a:endParaRPr lang="en-US" sz="900" dirty="0"/>
          </a:p>
        </p:txBody>
      </p:sp>
      <p:sp>
        <p:nvSpPr>
          <p:cNvPr id="9" name="box"/>
          <p:cNvSpPr/>
          <p:nvPr/>
        </p:nvSpPr>
        <p:spPr>
          <a:xfrm>
            <a:off x="2606040" y="1188720"/>
            <a:ext cx="1920240" cy="2194560"/>
          </a:xfrm>
          <a:prstGeom prst="rect">
            <a:avLst/>
          </a:prstGeom>
          <a:solidFill>
            <a:srgbClr val="F6F2EC"/>
          </a:solidFill>
          <a:ln w="12700">
            <a:solidFill>
              <a:srgbClr val="F6F2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743200" y="1325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Streamlit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2743200" y="18288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prediction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2743200" y="25603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employee-attrition-platform-i7ymnicw7iichr9je4kvbe.streamlit.app</a:t>
            </a:r>
            <a:endParaRPr lang="en-US" sz="900" dirty="0"/>
          </a:p>
        </p:txBody>
      </p:sp>
      <p:sp>
        <p:nvSpPr>
          <p:cNvPr id="13" name="box"/>
          <p:cNvSpPr/>
          <p:nvPr/>
        </p:nvSpPr>
        <p:spPr>
          <a:xfrm>
            <a:off x="4709160" y="1188720"/>
            <a:ext cx="1920240" cy="2194560"/>
          </a:xfrm>
          <a:prstGeom prst="rect">
            <a:avLst/>
          </a:prstGeom>
          <a:solidFill>
            <a:srgbClr val="2B2D42"/>
          </a:solidFill>
          <a:ln w="12700">
            <a:solidFill>
              <a:srgbClr val="2B2D4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46320" y="1325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Render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4846320" y="18288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/docs page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846320" y="25603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employee-attrition-platform-yaou.onrender.com/docs</a:t>
            </a:r>
            <a:endParaRPr lang="en-US" sz="900" dirty="0"/>
          </a:p>
        </p:txBody>
      </p:sp>
      <p:sp>
        <p:nvSpPr>
          <p:cNvPr id="17" name="box"/>
          <p:cNvSpPr/>
          <p:nvPr/>
        </p:nvSpPr>
        <p:spPr>
          <a:xfrm>
            <a:off x="6812280" y="1188720"/>
            <a:ext cx="1920240" cy="2194560"/>
          </a:xfrm>
          <a:prstGeom prst="rect">
            <a:avLst/>
          </a:prstGeom>
          <a:solidFill>
            <a:srgbClr val="F6F2EC"/>
          </a:solidFill>
          <a:ln w="12700">
            <a:solidFill>
              <a:srgbClr val="F6F2E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949440" y="1325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Actions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949440" y="18288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retraining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6949440" y="25603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Monday, or on demand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02920" y="36118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/predict takes raw employee fields and returns probability, risk band and a yes/no prediction.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 keeps the old model unless the new cross-validated AUC is about as good.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server has a different scikit-learn version, the app rebuilds the model by itself.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deployment evidence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96112"/>
            <a:ext cx="109728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pic>
        <p:nvPicPr>
          <p:cNvPr id="5" name="Image 0" descr="S/api_response_color.png"/>
          <p:cNvPicPr>
            <a:picLocks noChangeAspect="1"/>
          </p:cNvPicPr>
          <p:nvPr/>
        </p:nvPicPr>
        <p:blipFill>
          <a:blip r:embed="rId3"/>
          <a:srcRect t="5220"/>
          <a:stretch>
            <a:fillRect/>
          </a:stretch>
        </p:blipFill>
        <p:spPr>
          <a:xfrm>
            <a:off x="502920" y="1212782"/>
            <a:ext cx="3931920" cy="2097345"/>
          </a:xfrm>
          <a:prstGeom prst="rect">
            <a:avLst/>
          </a:prstGeom>
        </p:spPr>
      </p:pic>
      <p:sp>
        <p:nvSpPr>
          <p:cNvPr id="6" name="frame"/>
          <p:cNvSpPr/>
          <p:nvPr/>
        </p:nvSpPr>
        <p:spPr>
          <a:xfrm>
            <a:off x="502920" y="1212782"/>
            <a:ext cx="3931920" cy="2097346"/>
          </a:xfrm>
          <a:prstGeom prst="rect">
            <a:avLst/>
          </a:prstGeom>
          <a:ln w="12700">
            <a:solidFill>
              <a:srgbClr val="8D99AE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02920" y="34015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/predict returns 0.7863, risk High</a:t>
            </a:r>
            <a:endParaRPr lang="en-US" sz="1250" dirty="0"/>
          </a:p>
        </p:txBody>
      </p:sp>
      <p:pic>
        <p:nvPicPr>
          <p:cNvPr id="8" name="Image 1" descr="S/actions_color.png"/>
          <p:cNvPicPr>
            <a:picLocks noChangeAspect="1"/>
          </p:cNvPicPr>
          <p:nvPr/>
        </p:nvPicPr>
        <p:blipFill>
          <a:blip r:embed="rId4"/>
          <a:srcRect t="5220"/>
          <a:stretch>
            <a:fillRect/>
          </a:stretch>
        </p:blipFill>
        <p:spPr>
          <a:xfrm>
            <a:off x="4709160" y="1212782"/>
            <a:ext cx="3931920" cy="2097346"/>
          </a:xfrm>
          <a:prstGeom prst="rect">
            <a:avLst/>
          </a:prstGeom>
        </p:spPr>
      </p:pic>
      <p:sp>
        <p:nvSpPr>
          <p:cNvPr id="9" name="frame"/>
          <p:cNvSpPr/>
          <p:nvPr/>
        </p:nvSpPr>
        <p:spPr>
          <a:xfrm>
            <a:off x="4709160" y="1212782"/>
            <a:ext cx="3931920" cy="2097346"/>
          </a:xfrm>
          <a:prstGeom prst="rect">
            <a:avLst/>
          </a:prstGeom>
          <a:ln w="12700">
            <a:solidFill>
              <a:srgbClr val="8D99AE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4709160" y="34015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 workflow run #1: Success, 49 s</a:t>
            </a:r>
            <a:endParaRPr lang="en-US" sz="1250" dirty="0"/>
          </a:p>
        </p:txBody>
      </p:sp>
      <p:sp>
        <p:nvSpPr>
          <p:cNvPr id="11" name="Text 6"/>
          <p:cNvSpPr txBox="1"/>
          <p:nvPr/>
        </p:nvSpPr>
        <p:spPr>
          <a:xfrm>
            <a:off x="502920" y="3931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input: 29-year-old, level 1, Sales, overtime, income 3,200, frequent travel. Result: 78.6% chance of leaving, High risk.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HR dashboard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96112"/>
            <a:ext cx="109728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screenshot placeholder"/>
          <p:cNvSpPr/>
          <p:nvPr/>
        </p:nvSpPr>
        <p:spPr>
          <a:xfrm>
            <a:off x="502920" y="1097280"/>
            <a:ext cx="5120640" cy="3520440"/>
          </a:xfrm>
          <a:prstGeom prst="rect">
            <a:avLst/>
          </a:prstGeom>
          <a:solidFill>
            <a:srgbClr val="FAFAFA"/>
          </a:solidFill>
          <a:ln w="19050">
            <a:solidFill>
              <a:srgbClr val="8D99AE"/>
            </a:solidFill>
            <a:prstDash val="dash"/>
          </a:ln>
        </p:spPr>
      </p:sp>
      <p:sp>
        <p:nvSpPr>
          <p:cNvPr id="6" name="Text 3"/>
          <p:cNvSpPr txBox="1"/>
          <p:nvPr/>
        </p:nvSpPr>
        <p:spPr>
          <a:xfrm>
            <a:off x="502920" y="26517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screenshot of the dashboard here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852160" y="1097280"/>
            <a:ext cx="30175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07A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Five tabs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KPIs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and Risk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Demographics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Attrition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100" i="1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Filters: department and risk category</a:t>
            </a:r>
            <a:endParaRPr lang="en-US" sz="1500" dirty="0"/>
          </a:p>
          <a:p>
            <a:pPr marL="0" indent="0">
              <a:buNone/>
            </a:pPr>
            <a:r>
              <a:rPr lang="en-US" sz="850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employee-attrition-platform-i7ymnicw7iichr9je4kvbe.streamlit.app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  <p:pic>
        <p:nvPicPr>
          <p:cNvPr id="4" name="HR KPIs tab" descr="HR KPIs tab">
            <a:extLst>
              <a:ext uri="{FF2B5EF4-FFF2-40B4-BE49-F238E27FC236}">
                <a16:creationId xmlns:a16="http://schemas.microsoft.com/office/drawing/2014/main" id="{B646C920-7896-91B2-7DA5-7FB784D8FD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97280"/>
            <a:ext cx="5120640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2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Recommendations and impact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96112"/>
            <a:ext cx="109728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02920" y="1097280"/>
            <a:ext cx="52120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3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long-term overtime, starting with teams that have many High-risk staff.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3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and check in with employees in their first two years.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3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pay for Sales Representatives and Laboratory Technicians.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3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stock options or retention bonuses to High-risk staff who have none.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3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frequent travel by rotating trips or meeting online.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3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High-risk list for monthly support conversations, never for penalties.</a:t>
            </a:r>
            <a:endParaRPr lang="en-US" sz="1350" dirty="0"/>
          </a:p>
        </p:txBody>
      </p:sp>
      <p:sp>
        <p:nvSpPr>
          <p:cNvPr id="6" name="box"/>
          <p:cNvSpPr/>
          <p:nvPr/>
        </p:nvSpPr>
        <p:spPr>
          <a:xfrm>
            <a:off x="5943600" y="1097280"/>
            <a:ext cx="2834640" cy="3520440"/>
          </a:xfrm>
          <a:prstGeom prst="rect">
            <a:avLst/>
          </a:prstGeom>
          <a:solidFill>
            <a:srgbClr val="2B2D42"/>
          </a:solidFill>
          <a:ln w="12700">
            <a:solidFill>
              <a:srgbClr val="2B2D4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126480" y="1280160"/>
            <a:ext cx="2468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287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in the High band; about 143 did leave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25% of them and about 36 exits are avoided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Illustration only: the 25% is an assumption.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3551721" y="2213811"/>
            <a:ext cx="2656573" cy="1010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E07A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you!!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rinivas">
  <a:themeElements>
    <a:clrScheme name="Shrinivas">
      <a:dk1>
        <a:srgbClr val="2B2D42"/>
      </a:dk1>
      <a:lt1>
        <a:srgbClr val="FFFFFF"/>
      </a:lt1>
      <a:dk2>
        <a:srgbClr val="3D405B"/>
      </a:dk2>
      <a:lt2>
        <a:srgbClr val="F6F2EC"/>
      </a:lt2>
      <a:accent1>
        <a:srgbClr val="E07A1F"/>
      </a:accent1>
      <a:accent2>
        <a:srgbClr val="2B2D42"/>
      </a:accent2>
      <a:accent3>
        <a:srgbClr val="8D99AE"/>
      </a:accent3>
      <a:accent4>
        <a:srgbClr val="C2410C"/>
      </a:accent4>
      <a:accent5>
        <a:srgbClr val="5C677D"/>
      </a:accent5>
      <a:accent6>
        <a:srgbClr val="F4A261"/>
      </a:accent6>
      <a:hlink>
        <a:srgbClr val="E07A1F"/>
      </a:hlink>
      <a:folHlink>
        <a:srgbClr val="8D99AE"/>
      </a:folHlink>
    </a:clrScheme>
    <a:fontScheme name="Shrinivas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1004</Words>
  <Application>Microsoft Office PowerPoint</Application>
  <PresentationFormat>On-screen Show (16:9)</PresentationFormat>
  <Paragraphs>152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Trebuchet MS</vt:lpstr>
      <vt:lpstr>Shrinivas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Attrition Analytics Platform</dc:title>
  <dc:subject>PptxGenJS Presentation</dc:subject>
  <dc:creator>PptxGenJS</dc:creator>
  <cp:lastModifiedBy>Admin</cp:lastModifiedBy>
  <cp:revision>3</cp:revision>
  <dcterms:created xsi:type="dcterms:W3CDTF">2026-10-24T07:46:15Z</dcterms:created>
  <dcterms:modified xsi:type="dcterms:W3CDTF">2026-10-24T10:26:39Z</dcterms:modified>
</cp:coreProperties>
</file>